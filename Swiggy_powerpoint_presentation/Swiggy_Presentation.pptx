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56" r:id="rId3"/>
    <p:sldId id="258" r:id="rId4"/>
    <p:sldId id="257" r:id="rId5"/>
    <p:sldId id="259" r:id="rId6"/>
    <p:sldId id="260" r:id="rId7"/>
    <p:sldId id="261" r:id="rId8"/>
    <p:sldId id="262" r:id="rId9"/>
    <p:sldId id="264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276" r:id="rId18"/>
    <p:sldId id="272" r:id="rId19"/>
    <p:sldId id="271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5623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271A8-280C-4FB1-9594-6B1D48784D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BA63A-5711-4AF7-8B2A-427F7E16A8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EB0F5-B60D-4461-AC5C-FFC283301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D3F8-6C69-486E-BA74-731D90B2FE8F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79869-8C7E-4464-A7CC-7B06BEE59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E40A0-A51A-457C-969B-7FBD406BD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8E6CA-AF8D-4DBD-9EEC-D64572897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144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64B74-891D-490D-B928-E4F4AE873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67EAC-842B-4800-AACC-AAEC04A0B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09A95-CEF0-473B-A2A4-EF305622B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D3F8-6C69-486E-BA74-731D90B2FE8F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B59D2-AF23-47A0-8857-1F0A92E0A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8022D-7A05-43ED-A9B9-0B17CB0F0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8E6CA-AF8D-4DBD-9EEC-D64572897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672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62247-03D7-4FC0-A076-8FDAA785C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AFA8E-3B9C-45D4-AACD-4052B8E9D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3FA4A-920A-4D09-A3A1-329D9CE4E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D3F8-6C69-486E-BA74-731D90B2FE8F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F087B-BD19-4FA1-AD54-D3913EFA8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407D6-9FBE-4ACB-9DA5-45B799CD6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8E6CA-AF8D-4DBD-9EEC-D64572897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767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C45D1-97C6-4A40-9EAF-432B32B0F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C220A-63E7-41BB-831E-4EF6BCC7EE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60C6CA-3350-47D6-BB40-36DC57160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6AEC8A-3756-473B-80B9-5F7931BB9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D3F8-6C69-486E-BA74-731D90B2FE8F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246287-6795-48A1-BB0A-64CBF9D1B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0D02A1-CFF7-4C5D-B6BC-21266FD15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8E6CA-AF8D-4DBD-9EEC-D64572897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80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1410E-AF48-46AE-A3F6-9FE2AAB63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84E79-DB90-4BA1-9C81-EC00F3564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7CC0F6-5035-43F8-80FE-292788A0D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9F3E09-09BE-4748-8929-7AB11CE8D6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7F121D-56C2-4354-8B6E-9AE1C5B564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ED680A-ADCE-4389-B1A5-F9A2531E0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D3F8-6C69-486E-BA74-731D90B2FE8F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16381F-F321-42B5-8D27-BEA5D6C30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3B1D36-ADDE-4E2A-AA0F-652FD182F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8E6CA-AF8D-4DBD-9EEC-D64572897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06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2B1A9-C646-412E-BDB7-599DF0614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60B0F4-2D02-4D12-81D4-66C134C24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D3F8-6C69-486E-BA74-731D90B2FE8F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E5A0DC-46DF-4E55-8121-4BC8A66D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69B01F-8AEF-4239-A46C-D69DE4ABD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8E6CA-AF8D-4DBD-9EEC-D64572897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976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33DD3A-BED5-4952-8585-D13B11707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D3F8-6C69-486E-BA74-731D90B2FE8F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982E32-E26B-471E-9F46-AFEC9BC6D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80E08-DFE2-4A2D-A404-8EBAF0ED4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8E6CA-AF8D-4DBD-9EEC-D64572897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991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CD6B4-8DCF-4F4F-9785-CF6CBF7F3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6BB1D-7447-4937-B6DA-F2C85239A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F4C7FC-8D94-457D-AFE6-745949C79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95FFE5-CF18-491B-BFF5-C4FC485F5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D3F8-6C69-486E-BA74-731D90B2FE8F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2A346-185E-4A4E-9DB7-9EAF7287E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CE3AC9-9E94-405E-876A-3D9033B57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8E6CA-AF8D-4DBD-9EEC-D64572897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81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057DA-7AF3-478F-8377-CFB83051E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4F85F7-B903-4149-9C74-C6216DD8BC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07B616-F36F-4669-8B15-BD3DA440B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92073-41E4-4F70-B672-407C23498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D3F8-6C69-486E-BA74-731D90B2FE8F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94C3E7-37FD-4B8C-9F93-AC00AFB12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62798-AADF-4F48-BB96-16888687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8E6CA-AF8D-4DBD-9EEC-D64572897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918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B4895-AE17-4BB4-B630-880EDB65C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8E71AB-DC0B-4B83-9093-D8C1A170CD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64916-CC92-4B5A-92E0-5C70A1FC7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D3F8-6C69-486E-BA74-731D90B2FE8F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15A81-9916-4883-B41B-232269AE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3FD17-28DB-4ECD-A7F5-44F32D336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8E6CA-AF8D-4DBD-9EEC-D64572897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827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1F3BFD-2935-425E-9EC7-47CF57FF3D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C4F80-F1A7-4839-A5E8-EBFD447795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72BE2-0E95-428F-A41E-2940267B2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AD3F8-6C69-486E-BA74-731D90B2FE8F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3671D-7D20-4D19-B3EE-E77E996F2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78FE6-A789-4935-B1C6-CDD8031F1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8E6CA-AF8D-4DBD-9EEC-D64572897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56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A261B-983B-4420-8D9A-FE0D0A761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5AA07-2E03-4BAB-BA69-C107CB99D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6C255-2F0E-4D98-9989-0ACEB83D3C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AD3F8-6C69-486E-BA74-731D90B2FE8F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9D604-68E7-4DE2-A625-68F6021E71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B01C4-B26E-4756-B517-561B50DED6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8E6CA-AF8D-4DBD-9EEC-D64572897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546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microsoft.com/office/2007/relationships/hdphoto" Target="../media/hdphoto3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microsoft.com/office/2007/relationships/hdphoto" Target="../media/hdphoto3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microsoft.com/office/2007/relationships/hdphoto" Target="../media/hdphoto3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microsoft.com/office/2007/relationships/hdphoto" Target="../media/hdphoto4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microsoft.com/office/2007/relationships/hdphoto" Target="../media/hdphoto2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microsoft.com/office/2007/relationships/hdphoto" Target="../media/hdphoto3.wdp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microsoft.com/office/2007/relationships/hdphoto" Target="../media/hdphoto4.wdp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5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FB8F744-260B-4E05-A9F3-56D997383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878" y="0"/>
            <a:ext cx="12211878" cy="68579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C1B0E8B-DBCB-42BD-8CB0-CC7C4C6057E0}"/>
              </a:ext>
            </a:extLst>
          </p:cNvPr>
          <p:cNvSpPr txBox="1"/>
          <p:nvPr/>
        </p:nvSpPr>
        <p:spPr>
          <a:xfrm>
            <a:off x="887895" y="834886"/>
            <a:ext cx="80440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Swiggy Sales Performance Analysis (Jan–Aug 2025)</a:t>
            </a:r>
          </a:p>
          <a:p>
            <a:r>
              <a:rPr lang="en-US" sz="1600" b="1" dirty="0">
                <a:solidFill>
                  <a:schemeClr val="bg1"/>
                </a:solidFill>
                <a:effectLst/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Identifying Growth Opportunities Through Data Analytics</a:t>
            </a:r>
          </a:p>
          <a:p>
            <a:endParaRPr lang="en-US" sz="2000" b="1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100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5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9A15-6FAA-4CE7-B436-D5736BCF5B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F54C2-B827-40E5-94A6-1A4BBB1CDE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3B7CA7F-BD24-41B0-AACD-89E9952B672E}"/>
              </a:ext>
            </a:extLst>
          </p:cNvPr>
          <p:cNvGrpSpPr/>
          <p:nvPr/>
        </p:nvGrpSpPr>
        <p:grpSpPr>
          <a:xfrm>
            <a:off x="178904" y="119966"/>
            <a:ext cx="11834191" cy="6618067"/>
            <a:chOff x="185531" y="-1707075"/>
            <a:chExt cx="11807686" cy="844441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010810-5D5B-4382-B7B1-65065DF836B5}"/>
                </a:ext>
              </a:extLst>
            </p:cNvPr>
            <p:cNvSpPr/>
            <p:nvPr/>
          </p:nvSpPr>
          <p:spPr>
            <a:xfrm>
              <a:off x="185531" y="-1707075"/>
              <a:ext cx="11807686" cy="8444412"/>
            </a:xfrm>
            <a:prstGeom prst="rect">
              <a:avLst/>
            </a:prstGeom>
            <a:ln>
              <a:solidFill>
                <a:schemeClr val="bg1"/>
              </a:solidFill>
            </a:ln>
            <a:effectLst>
              <a:softEdge rad="38100"/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8BC93A0-3F34-44FA-9329-7A7ACE7A0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369" y="-1561644"/>
              <a:ext cx="562841" cy="964786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8F7C69-0D4F-47A1-B247-B78157811EAA}"/>
              </a:ext>
            </a:extLst>
          </p:cNvPr>
          <p:cNvSpPr/>
          <p:nvPr/>
        </p:nvSpPr>
        <p:spPr>
          <a:xfrm>
            <a:off x="983834" y="233247"/>
            <a:ext cx="10570370" cy="721887"/>
          </a:xfrm>
          <a:prstGeom prst="roundRect">
            <a:avLst/>
          </a:prstGeom>
          <a:solidFill>
            <a:srgbClr val="FB5623"/>
          </a:solidFill>
          <a:effectLst>
            <a:glow rad="12700">
              <a:schemeClr val="accent2">
                <a:satMod val="175000"/>
                <a:alpha val="40000"/>
              </a:schemeClr>
            </a:glo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How Did Swiggy Perform Overall 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480958-5229-42E9-942B-B00040CFA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84" y="1583635"/>
            <a:ext cx="2048161" cy="8002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3165C8C-9EA3-47F4-98C6-B923205EA6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32" y="2607126"/>
            <a:ext cx="2048161" cy="7716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8BF9305-D3CB-4F42-81F6-1A6BD6961E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784" y="3591602"/>
            <a:ext cx="2048161" cy="83831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F4B9904-54DB-492F-9CF5-6F861CF80E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783" y="4587703"/>
            <a:ext cx="2048161" cy="85737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D1424950-5CFE-4CA1-BD4E-03E400CE0E36}"/>
              </a:ext>
            </a:extLst>
          </p:cNvPr>
          <p:cNvGrpSpPr/>
          <p:nvPr/>
        </p:nvGrpSpPr>
        <p:grpSpPr>
          <a:xfrm>
            <a:off x="649532" y="1576640"/>
            <a:ext cx="2048161" cy="3868431"/>
            <a:chOff x="649532" y="1576641"/>
            <a:chExt cx="2061413" cy="3861437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8625D44-7ADD-4DCF-B6EF-83951FDF0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2784" y="1576641"/>
              <a:ext cx="2048161" cy="800213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7AF9635-94AC-4E8C-8D5F-7A70B2370A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9532" y="2600132"/>
              <a:ext cx="2048161" cy="771633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558FD63-48FF-43D7-9138-40270C05A1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2784" y="3584607"/>
              <a:ext cx="2048161" cy="838318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14DDE696-9D53-4A4B-8A66-373637337F2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2783" y="4580708"/>
              <a:ext cx="2048161" cy="857370"/>
            </a:xfrm>
            <a:prstGeom prst="rect">
              <a:avLst/>
            </a:prstGeom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06A00299-BB32-4263-9423-3AAA6B67B98F}"/>
              </a:ext>
            </a:extLst>
          </p:cNvPr>
          <p:cNvSpPr txBox="1"/>
          <p:nvPr/>
        </p:nvSpPr>
        <p:spPr>
          <a:xfrm>
            <a:off x="3161694" y="2113132"/>
            <a:ext cx="7917122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Swiggy processed approximately 197K orders and generated ₹53 Million in revenue during the eight-month analysis period 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effectLst/>
              <a:latin typeface="Segoe UI Semibold" panose="020B0702040204020203" pitchFamily="34" charset="0"/>
              <a:ea typeface="Times New Roman" panose="02020603050405020304" pitchFamily="18" charset="0"/>
              <a:cs typeface="Segoe UI Semibold" panose="020B0702040204020203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An average customer rating of 4.34 suggests a generally positive customer experience, while the average dish price was approximately ₹268</a:t>
            </a:r>
            <a:endParaRPr lang="en-US" sz="2000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endParaRPr lang="en-US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671290D-A29B-41F8-BC66-031269DA7D7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6142" y="4428079"/>
            <a:ext cx="2408535" cy="219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7708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5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9A15-6FAA-4CE7-B436-D5736BCF5B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F54C2-B827-40E5-94A6-1A4BBB1CDE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3B7CA7F-BD24-41B0-AACD-89E9952B672E}"/>
              </a:ext>
            </a:extLst>
          </p:cNvPr>
          <p:cNvGrpSpPr/>
          <p:nvPr/>
        </p:nvGrpSpPr>
        <p:grpSpPr>
          <a:xfrm>
            <a:off x="178904" y="119966"/>
            <a:ext cx="11834191" cy="6618067"/>
            <a:chOff x="185531" y="-1707075"/>
            <a:chExt cx="11807686" cy="844441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010810-5D5B-4382-B7B1-65065DF836B5}"/>
                </a:ext>
              </a:extLst>
            </p:cNvPr>
            <p:cNvSpPr/>
            <p:nvPr/>
          </p:nvSpPr>
          <p:spPr>
            <a:xfrm>
              <a:off x="185531" y="-1707075"/>
              <a:ext cx="11807686" cy="8444412"/>
            </a:xfrm>
            <a:prstGeom prst="rect">
              <a:avLst/>
            </a:prstGeom>
            <a:ln>
              <a:solidFill>
                <a:schemeClr val="bg1"/>
              </a:solidFill>
            </a:ln>
            <a:effectLst>
              <a:softEdge rad="38100"/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8BC93A0-3F34-44FA-9329-7A7ACE7A0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369" y="-1561644"/>
              <a:ext cx="562841" cy="964786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8F7C69-0D4F-47A1-B247-B78157811EAA}"/>
              </a:ext>
            </a:extLst>
          </p:cNvPr>
          <p:cNvSpPr/>
          <p:nvPr/>
        </p:nvSpPr>
        <p:spPr>
          <a:xfrm>
            <a:off x="1151416" y="233247"/>
            <a:ext cx="10570370" cy="721887"/>
          </a:xfrm>
          <a:prstGeom prst="roundRect">
            <a:avLst/>
          </a:prstGeom>
          <a:solidFill>
            <a:srgbClr val="FB5623"/>
          </a:solidFill>
          <a:effectLst>
            <a:glow rad="12700">
              <a:schemeClr val="accent2">
                <a:satMod val="175000"/>
                <a:alpha val="40000"/>
              </a:schemeClr>
            </a:glo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Order Volume Peaks in January , May and August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A00299-BB32-4263-9423-3AAA6B67B98F}"/>
              </a:ext>
            </a:extLst>
          </p:cNvPr>
          <p:cNvSpPr txBox="1"/>
          <p:nvPr/>
        </p:nvSpPr>
        <p:spPr>
          <a:xfrm>
            <a:off x="6415253" y="1554069"/>
            <a:ext cx="519919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Orders peaked in January, May and August.</a:t>
            </a:r>
          </a:p>
          <a:p>
            <a:pPr algn="just"/>
            <a:endParaRPr lang="en-US" sz="2000" b="1" dirty="0">
              <a:effectLst/>
              <a:latin typeface="Segoe UI Semibold" panose="020B0702040204020203" pitchFamily="34" charset="0"/>
              <a:ea typeface="Times New Roman" panose="02020603050405020304" pitchFamily="18" charset="0"/>
              <a:cs typeface="Segoe UI Semibold" panose="020B0702040204020203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Revenue closely followed order trends.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 dirty="0">
              <a:latin typeface="Segoe UI Semibold" panose="020B0702040204020203" pitchFamily="34" charset="0"/>
              <a:ea typeface="Times New Roman" panose="02020603050405020304" pitchFamily="18" charset="0"/>
              <a:cs typeface="Segoe UI Semibold" panose="020B0702040204020203" pitchFamily="34" charset="0"/>
            </a:endParaRPr>
          </a:p>
          <a:p>
            <a:pPr algn="just"/>
            <a:endParaRPr lang="en-US" sz="2000" b="1" dirty="0">
              <a:effectLst/>
              <a:latin typeface="Segoe UI Semibold" panose="020B0702040204020203" pitchFamily="34" charset="0"/>
              <a:ea typeface="Times New Roman" panose="02020603050405020304" pitchFamily="18" charset="0"/>
              <a:cs typeface="Segoe UI Semibold" panose="020B07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February, March  and June recorded relatively lower activity and were investigated further .</a:t>
            </a:r>
            <a:endParaRPr lang="en-US" sz="2000" b="1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endParaRPr lang="en-US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671290D-A29B-41F8-BC66-031269DA7D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2917" y="5401017"/>
            <a:ext cx="1341760" cy="12237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4D8268-0D92-455E-94D9-29693EB60E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003" y="1600200"/>
            <a:ext cx="6002151" cy="362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524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5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9A15-6FAA-4CE7-B436-D5736BCF5B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F54C2-B827-40E5-94A6-1A4BBB1CDE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3B7CA7F-BD24-41B0-AACD-89E9952B672E}"/>
              </a:ext>
            </a:extLst>
          </p:cNvPr>
          <p:cNvGrpSpPr/>
          <p:nvPr/>
        </p:nvGrpSpPr>
        <p:grpSpPr>
          <a:xfrm>
            <a:off x="178904" y="119966"/>
            <a:ext cx="11834191" cy="6618067"/>
            <a:chOff x="185531" y="-1707075"/>
            <a:chExt cx="11807686" cy="844441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010810-5D5B-4382-B7B1-65065DF836B5}"/>
                </a:ext>
              </a:extLst>
            </p:cNvPr>
            <p:cNvSpPr/>
            <p:nvPr/>
          </p:nvSpPr>
          <p:spPr>
            <a:xfrm>
              <a:off x="185531" y="-1707075"/>
              <a:ext cx="11807686" cy="8444412"/>
            </a:xfrm>
            <a:prstGeom prst="rect">
              <a:avLst/>
            </a:prstGeom>
            <a:ln>
              <a:solidFill>
                <a:schemeClr val="bg1"/>
              </a:solidFill>
            </a:ln>
            <a:effectLst>
              <a:softEdge rad="38100"/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8BC93A0-3F34-44FA-9329-7A7ACE7A0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369" y="-1561644"/>
              <a:ext cx="562841" cy="964786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8F7C69-0D4F-47A1-B247-B78157811EAA}"/>
              </a:ext>
            </a:extLst>
          </p:cNvPr>
          <p:cNvSpPr/>
          <p:nvPr/>
        </p:nvSpPr>
        <p:spPr>
          <a:xfrm>
            <a:off x="1151416" y="233247"/>
            <a:ext cx="10570370" cy="721887"/>
          </a:xfrm>
          <a:prstGeom prst="roundRect">
            <a:avLst/>
          </a:prstGeom>
          <a:solidFill>
            <a:srgbClr val="FB5623"/>
          </a:solidFill>
          <a:effectLst>
            <a:glow rad="12700">
              <a:schemeClr val="accent2">
                <a:satMod val="175000"/>
                <a:alpha val="40000"/>
              </a:schemeClr>
            </a:glo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Why Did Order Volume Decline in February, March and June?</a:t>
            </a:r>
            <a:endParaRPr lang="en-US" sz="24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A00299-BB32-4263-9423-3AAA6B67B98F}"/>
              </a:ext>
            </a:extLst>
          </p:cNvPr>
          <p:cNvSpPr txBox="1"/>
          <p:nvPr/>
        </p:nvSpPr>
        <p:spPr>
          <a:xfrm>
            <a:off x="554422" y="3745255"/>
            <a:ext cx="11458673" cy="2712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• </a:t>
            </a:r>
            <a:r>
              <a:rPr lang="en-US" sz="20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The decline in order volume was relatively small rather than a significant business downturn. </a:t>
            </a:r>
            <a:endParaRPr lang="en-US" sz="2000" b="1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• February's lower orders are largely explained by having fewer calendar days. </a:t>
            </a:r>
            <a:endParaRPr lang="en-US" sz="2000" b="1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• March's decline was primarily associated with reduced order volume from Bengaluru. </a:t>
            </a:r>
            <a:endParaRPr lang="en-US" sz="2000" b="1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• June experienced weaker weekend demand during Weeks 25–26.</a:t>
            </a:r>
            <a:endParaRPr lang="en-US" sz="2000" b="1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endParaRPr lang="en-US" sz="2000" b="1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endParaRPr lang="en-US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671290D-A29B-41F8-BC66-031269DA7D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126" y="5526157"/>
            <a:ext cx="1204550" cy="10985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8ECB0C9-2093-4333-A559-C964702351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138" y="1214440"/>
            <a:ext cx="11602810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686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5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9A15-6FAA-4CE7-B436-D5736BCF5B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F54C2-B827-40E5-94A6-1A4BBB1CDE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3B7CA7F-BD24-41B0-AACD-89E9952B672E}"/>
              </a:ext>
            </a:extLst>
          </p:cNvPr>
          <p:cNvGrpSpPr/>
          <p:nvPr/>
        </p:nvGrpSpPr>
        <p:grpSpPr>
          <a:xfrm>
            <a:off x="178904" y="119966"/>
            <a:ext cx="11834191" cy="6618067"/>
            <a:chOff x="185531" y="-1707075"/>
            <a:chExt cx="11807686" cy="844441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010810-5D5B-4382-B7B1-65065DF836B5}"/>
                </a:ext>
              </a:extLst>
            </p:cNvPr>
            <p:cNvSpPr/>
            <p:nvPr/>
          </p:nvSpPr>
          <p:spPr>
            <a:xfrm>
              <a:off x="185531" y="-1707075"/>
              <a:ext cx="11807686" cy="8444412"/>
            </a:xfrm>
            <a:prstGeom prst="rect">
              <a:avLst/>
            </a:prstGeom>
            <a:ln>
              <a:solidFill>
                <a:schemeClr val="bg1"/>
              </a:solidFill>
            </a:ln>
            <a:effectLst>
              <a:softEdge rad="38100"/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8BC93A0-3F34-44FA-9329-7A7ACE7A0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369" y="-1561644"/>
              <a:ext cx="562841" cy="964786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8F7C69-0D4F-47A1-B247-B78157811EAA}"/>
              </a:ext>
            </a:extLst>
          </p:cNvPr>
          <p:cNvSpPr/>
          <p:nvPr/>
        </p:nvSpPr>
        <p:spPr>
          <a:xfrm>
            <a:off x="1151416" y="233247"/>
            <a:ext cx="10570370" cy="721887"/>
          </a:xfrm>
          <a:prstGeom prst="roundRect">
            <a:avLst/>
          </a:prstGeom>
          <a:solidFill>
            <a:srgbClr val="FB5623"/>
          </a:solidFill>
          <a:effectLst>
            <a:glow rad="12700">
              <a:schemeClr val="accent2">
                <a:satMod val="175000"/>
                <a:alpha val="40000"/>
              </a:schemeClr>
            </a:glo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Customer Demand Peaks Between Thursday and Sunday</a:t>
            </a:r>
            <a:endParaRPr lang="en-US" sz="2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A00299-BB32-4263-9423-3AAA6B67B98F}"/>
              </a:ext>
            </a:extLst>
          </p:cNvPr>
          <p:cNvSpPr txBox="1"/>
          <p:nvPr/>
        </p:nvSpPr>
        <p:spPr>
          <a:xfrm>
            <a:off x="6478592" y="1973009"/>
            <a:ext cx="521007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Customer demand increases steadily from Thursday and reaches its highest levels on Saturday and Sunday, indicating a clear weekend ordering pattern.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b="1" dirty="0"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This creates opportunities for targeted weekend marketing and promotional campaigns.</a:t>
            </a:r>
            <a:endParaRPr lang="en-US" b="1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endParaRPr lang="en-US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671290D-A29B-41F8-BC66-031269DA7D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843" y="5349875"/>
            <a:ext cx="1397834" cy="12748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9CB1F8-849D-4AD2-A7B7-5B74F1E5CE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004" y="1823617"/>
            <a:ext cx="6182588" cy="33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706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5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9A15-6FAA-4CE7-B436-D5736BCF5B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F54C2-B827-40E5-94A6-1A4BBB1CDE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3B7CA7F-BD24-41B0-AACD-89E9952B672E}"/>
              </a:ext>
            </a:extLst>
          </p:cNvPr>
          <p:cNvGrpSpPr/>
          <p:nvPr/>
        </p:nvGrpSpPr>
        <p:grpSpPr>
          <a:xfrm>
            <a:off x="178904" y="119966"/>
            <a:ext cx="11834191" cy="6618067"/>
            <a:chOff x="185531" y="-1707075"/>
            <a:chExt cx="11807686" cy="844441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010810-5D5B-4382-B7B1-65065DF836B5}"/>
                </a:ext>
              </a:extLst>
            </p:cNvPr>
            <p:cNvSpPr/>
            <p:nvPr/>
          </p:nvSpPr>
          <p:spPr>
            <a:xfrm>
              <a:off x="185531" y="-1707075"/>
              <a:ext cx="11807686" cy="8444412"/>
            </a:xfrm>
            <a:prstGeom prst="rect">
              <a:avLst/>
            </a:prstGeom>
            <a:ln>
              <a:solidFill>
                <a:schemeClr val="bg1"/>
              </a:solidFill>
            </a:ln>
            <a:effectLst>
              <a:softEdge rad="38100"/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8BC93A0-3F34-44FA-9329-7A7ACE7A0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029" y="-1462056"/>
              <a:ext cx="467058" cy="800601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8F7C69-0D4F-47A1-B247-B78157811EAA}"/>
              </a:ext>
            </a:extLst>
          </p:cNvPr>
          <p:cNvSpPr/>
          <p:nvPr/>
        </p:nvSpPr>
        <p:spPr>
          <a:xfrm>
            <a:off x="816386" y="217554"/>
            <a:ext cx="10819023" cy="721887"/>
          </a:xfrm>
          <a:prstGeom prst="roundRect">
            <a:avLst/>
          </a:prstGeom>
          <a:solidFill>
            <a:srgbClr val="FB5623"/>
          </a:solidFill>
          <a:effectLst>
            <a:glow rad="12700">
              <a:schemeClr val="accent2">
                <a:satMod val="175000"/>
                <a:alpha val="40000"/>
              </a:schemeClr>
            </a:glo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Bengaluru Leads Order Volume While Lucknow Outperforms on Revenue</a:t>
            </a:r>
            <a:endParaRPr lang="en-US" sz="22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A00299-BB32-4263-9423-3AAA6B67B98F}"/>
              </a:ext>
            </a:extLst>
          </p:cNvPr>
          <p:cNvSpPr txBox="1"/>
          <p:nvPr/>
        </p:nvSpPr>
        <p:spPr>
          <a:xfrm>
            <a:off x="1118214" y="3774840"/>
            <a:ext cx="10033119" cy="3264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Bengaluru, Mumbai and Hyderabad generate the highest order volumes. 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800" b="1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While Bengaluru also leads in revenue, Lucknow ranks 2</a:t>
            </a:r>
            <a:r>
              <a:rPr lang="en-US" sz="1800" b="1" baseline="30000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nd</a:t>
            </a:r>
            <a:r>
              <a:rPr lang="en-US" sz="18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  in revenue despite having only the </a:t>
            </a:r>
            <a:r>
              <a:rPr lang="en-US" b="1" dirty="0"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5</a:t>
            </a:r>
            <a:r>
              <a:rPr lang="en-US" b="1" baseline="30000" dirty="0"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th</a:t>
            </a:r>
            <a:r>
              <a:rPr lang="en-US" b="1" dirty="0"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 </a:t>
            </a:r>
            <a:r>
              <a:rPr lang="en-US" sz="18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highest order volume. 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800" b="1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Jaipur ranks 4</a:t>
            </a:r>
            <a:r>
              <a:rPr lang="en-US" sz="1800" b="1" baseline="30000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th</a:t>
            </a:r>
            <a:r>
              <a:rPr lang="en-US" sz="18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  in order volume but falls to 10</a:t>
            </a:r>
            <a:r>
              <a:rPr lang="en-US" sz="1800" b="1" baseline="30000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th</a:t>
            </a:r>
            <a:r>
              <a:rPr lang="en-US" sz="18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  in revenue, indicating lower revenue generated per order. We have investigated these cases further .</a:t>
            </a:r>
            <a:endParaRPr lang="en-US" sz="1800" b="1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endParaRPr lang="en-US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671290D-A29B-41F8-BC66-031269DA7D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783" y="5725160"/>
            <a:ext cx="1030089" cy="9394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501991-4BC6-4FF9-B8DF-B66682AD7E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108" y="1104044"/>
            <a:ext cx="5115639" cy="29722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317D526-B639-444C-A5FD-245456D5CC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6255" y="1122363"/>
            <a:ext cx="4968280" cy="288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9104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5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9A15-6FAA-4CE7-B436-D5736BCF5B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F54C2-B827-40E5-94A6-1A4BBB1CDE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3B7CA7F-BD24-41B0-AACD-89E9952B672E}"/>
              </a:ext>
            </a:extLst>
          </p:cNvPr>
          <p:cNvGrpSpPr/>
          <p:nvPr/>
        </p:nvGrpSpPr>
        <p:grpSpPr>
          <a:xfrm>
            <a:off x="178904" y="119966"/>
            <a:ext cx="11834191" cy="6618067"/>
            <a:chOff x="185531" y="-1707075"/>
            <a:chExt cx="11807686" cy="844441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010810-5D5B-4382-B7B1-65065DF836B5}"/>
                </a:ext>
              </a:extLst>
            </p:cNvPr>
            <p:cNvSpPr/>
            <p:nvPr/>
          </p:nvSpPr>
          <p:spPr>
            <a:xfrm>
              <a:off x="185531" y="-1707075"/>
              <a:ext cx="11807686" cy="8444412"/>
            </a:xfrm>
            <a:prstGeom prst="rect">
              <a:avLst/>
            </a:prstGeom>
            <a:ln>
              <a:solidFill>
                <a:schemeClr val="bg1"/>
              </a:solidFill>
            </a:ln>
            <a:effectLst>
              <a:softEdge rad="38100"/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8BC93A0-3F34-44FA-9329-7A7ACE7A0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369" y="-1561645"/>
              <a:ext cx="498008" cy="853655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8F7C69-0D4F-47A1-B247-B78157811EAA}"/>
              </a:ext>
            </a:extLst>
          </p:cNvPr>
          <p:cNvSpPr/>
          <p:nvPr/>
        </p:nvSpPr>
        <p:spPr>
          <a:xfrm>
            <a:off x="977208" y="233943"/>
            <a:ext cx="10631696" cy="587001"/>
          </a:xfrm>
          <a:prstGeom prst="roundRect">
            <a:avLst/>
          </a:prstGeom>
          <a:solidFill>
            <a:srgbClr val="FB5623"/>
          </a:solidFill>
          <a:effectLst>
            <a:glow rad="12700">
              <a:schemeClr val="accent2">
                <a:satMod val="175000"/>
                <a:alpha val="40000"/>
              </a:schemeClr>
            </a:glo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Expansion Opportunity in Gangtok , Kohima, Aizawl </a:t>
            </a:r>
            <a:endParaRPr lang="en-US" sz="2600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A00299-BB32-4263-9423-3AAA6B67B98F}"/>
              </a:ext>
            </a:extLst>
          </p:cNvPr>
          <p:cNvSpPr txBox="1"/>
          <p:nvPr/>
        </p:nvSpPr>
        <p:spPr>
          <a:xfrm>
            <a:off x="1079439" y="4049441"/>
            <a:ext cx="1003311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Cities with low order volume and low revenue - Gangtok , Kohima, Aizawl 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b="1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All three cities have a relatively small restaurant network (25–35 restaurants) and limited delivery coverage (7–11 locations), which is likely associated with lower order volumes and revenue. 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b="1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Expanding restaurant partnerships and delivery coverage could improve market penetration in these cities.</a:t>
            </a:r>
            <a:endParaRPr lang="en-US" sz="1800" b="1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endParaRPr lang="en-US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EAEB53-CF41-4B2F-83E0-EEE2CEB59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208" y="1068041"/>
            <a:ext cx="5233031" cy="31859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270230-B645-47F3-B83D-4B6B8BFA31A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00"/>
          <a:stretch/>
        </p:blipFill>
        <p:spPr>
          <a:xfrm>
            <a:off x="6351245" y="1052030"/>
            <a:ext cx="5257659" cy="31859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76D9B48-570C-4417-ADFF-C3351A57BF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4505" y="5805970"/>
            <a:ext cx="1101262" cy="110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4241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5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9A15-6FAA-4CE7-B436-D5736BCF5B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F54C2-B827-40E5-94A6-1A4BBB1CDE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3B7CA7F-BD24-41B0-AACD-89E9952B672E}"/>
              </a:ext>
            </a:extLst>
          </p:cNvPr>
          <p:cNvGrpSpPr/>
          <p:nvPr/>
        </p:nvGrpSpPr>
        <p:grpSpPr>
          <a:xfrm>
            <a:off x="178904" y="119966"/>
            <a:ext cx="11834191" cy="6618067"/>
            <a:chOff x="185531" y="-1707075"/>
            <a:chExt cx="11807686" cy="844441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010810-5D5B-4382-B7B1-65065DF836B5}"/>
                </a:ext>
              </a:extLst>
            </p:cNvPr>
            <p:cNvSpPr/>
            <p:nvPr/>
          </p:nvSpPr>
          <p:spPr>
            <a:xfrm>
              <a:off x="185531" y="-1707075"/>
              <a:ext cx="11807686" cy="8444412"/>
            </a:xfrm>
            <a:prstGeom prst="rect">
              <a:avLst/>
            </a:prstGeom>
            <a:ln>
              <a:solidFill>
                <a:schemeClr val="bg1"/>
              </a:solidFill>
            </a:ln>
            <a:effectLst>
              <a:softEdge rad="38100"/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8BC93A0-3F34-44FA-9329-7A7ACE7A0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369" y="-1561645"/>
              <a:ext cx="498008" cy="853655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8F7C69-0D4F-47A1-B247-B78157811EAA}"/>
              </a:ext>
            </a:extLst>
          </p:cNvPr>
          <p:cNvSpPr/>
          <p:nvPr/>
        </p:nvSpPr>
        <p:spPr>
          <a:xfrm>
            <a:off x="977208" y="233943"/>
            <a:ext cx="10631696" cy="587001"/>
          </a:xfrm>
          <a:prstGeom prst="roundRect">
            <a:avLst/>
          </a:prstGeom>
          <a:solidFill>
            <a:srgbClr val="FB5623"/>
          </a:solidFill>
          <a:effectLst>
            <a:glow rad="12700">
              <a:schemeClr val="accent2">
                <a:satMod val="175000"/>
                <a:alpha val="40000"/>
              </a:schemeClr>
            </a:glo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What drives successful restaurant chains? </a:t>
            </a:r>
            <a:endParaRPr lang="en-US" sz="2600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A00299-BB32-4263-9423-3AAA6B67B98F}"/>
              </a:ext>
            </a:extLst>
          </p:cNvPr>
          <p:cNvSpPr txBox="1"/>
          <p:nvPr/>
        </p:nvSpPr>
        <p:spPr>
          <a:xfrm>
            <a:off x="678564" y="5702076"/>
            <a:ext cx="106619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Top-performing restaurant chains appear to benefit from strong demand across multiple high-performing categories such as Burgers, Desserts, and Beverages, Pizza which is likely associated with their higher overall order volume and revenue.</a:t>
            </a:r>
            <a:endParaRPr lang="en-US" sz="1800" b="1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 algn="just"/>
            <a:endParaRPr lang="en-US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76D9B48-570C-4417-ADFF-C3351A57BF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557" y="5958284"/>
            <a:ext cx="842235" cy="84223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ABDCEB1-7C21-4A61-BDEA-3ADE3B5A9F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208" y="865951"/>
            <a:ext cx="4782217" cy="469617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EE8BB03-4B83-4770-92AC-4E3ABF7FCB4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368"/>
          <a:stretch/>
        </p:blipFill>
        <p:spPr>
          <a:xfrm>
            <a:off x="6651916" y="865951"/>
            <a:ext cx="4688631" cy="4838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5894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5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9A15-6FAA-4CE7-B436-D5736BCF5B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F54C2-B827-40E5-94A6-1A4BBB1CDE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3B7CA7F-BD24-41B0-AACD-89E9952B672E}"/>
              </a:ext>
            </a:extLst>
          </p:cNvPr>
          <p:cNvGrpSpPr/>
          <p:nvPr/>
        </p:nvGrpSpPr>
        <p:grpSpPr>
          <a:xfrm>
            <a:off x="178904" y="119966"/>
            <a:ext cx="11834191" cy="6618067"/>
            <a:chOff x="185531" y="-1707075"/>
            <a:chExt cx="11807686" cy="844441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010810-5D5B-4382-B7B1-65065DF836B5}"/>
                </a:ext>
              </a:extLst>
            </p:cNvPr>
            <p:cNvSpPr/>
            <p:nvPr/>
          </p:nvSpPr>
          <p:spPr>
            <a:xfrm>
              <a:off x="185531" y="-1707075"/>
              <a:ext cx="11807686" cy="8444412"/>
            </a:xfrm>
            <a:prstGeom prst="rect">
              <a:avLst/>
            </a:prstGeom>
            <a:ln>
              <a:solidFill>
                <a:schemeClr val="bg1"/>
              </a:solidFill>
            </a:ln>
            <a:effectLst>
              <a:softEdge rad="38100"/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8BC93A0-3F34-44FA-9329-7A7ACE7A0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369" y="-1561645"/>
              <a:ext cx="498008" cy="853655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8F7C69-0D4F-47A1-B247-B78157811EAA}"/>
              </a:ext>
            </a:extLst>
          </p:cNvPr>
          <p:cNvSpPr/>
          <p:nvPr/>
        </p:nvSpPr>
        <p:spPr>
          <a:xfrm>
            <a:off x="977208" y="233943"/>
            <a:ext cx="10631696" cy="587001"/>
          </a:xfrm>
          <a:prstGeom prst="roundRect">
            <a:avLst/>
          </a:prstGeom>
          <a:solidFill>
            <a:srgbClr val="FB5623"/>
          </a:solidFill>
          <a:effectLst>
            <a:glow rad="12700">
              <a:schemeClr val="accent2">
                <a:satMod val="175000"/>
                <a:alpha val="40000"/>
              </a:schemeClr>
            </a:glo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Recommended, Main Course, Burgers, Deserts , Beverages are top categories </a:t>
            </a:r>
            <a:endParaRPr lang="en-US" sz="2300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A00299-BB32-4263-9423-3AAA6B67B98F}"/>
              </a:ext>
            </a:extLst>
          </p:cNvPr>
          <p:cNvSpPr txBox="1"/>
          <p:nvPr/>
        </p:nvSpPr>
        <p:spPr>
          <a:xfrm>
            <a:off x="1005225" y="5135185"/>
            <a:ext cx="106619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Recommended, Main course , Burgers, Deserts, Beverages are giving high total revenue.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b="1" dirty="0">
              <a:effectLst/>
              <a:latin typeface="Segoe UI Semibold" panose="020B0702040204020203" pitchFamily="34" charset="0"/>
              <a:ea typeface="Times New Roman" panose="02020603050405020304" pitchFamily="18" charset="0"/>
              <a:cs typeface="Segoe UI Semibold" panose="020B07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Recommended , Desserts , Main Course , Beverages , Burgers are having top order count.</a:t>
            </a:r>
            <a:endParaRPr lang="en-US" sz="1800" b="1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 algn="just"/>
            <a:endParaRPr lang="en-US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76D9B48-570C-4417-ADFF-C3351A57BF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9549" y="5805276"/>
            <a:ext cx="995244" cy="9952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4DE433-D003-40BD-9445-38F0D54866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866" y="1292838"/>
            <a:ext cx="5859134" cy="35376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7CC10B-7626-442F-B5AD-EA84610694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2269" y="1324849"/>
            <a:ext cx="6012524" cy="3537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6952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5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9A15-6FAA-4CE7-B436-D5736BCF5B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F54C2-B827-40E5-94A6-1A4BBB1CDE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3B7CA7F-BD24-41B0-AACD-89E9952B672E}"/>
              </a:ext>
            </a:extLst>
          </p:cNvPr>
          <p:cNvGrpSpPr/>
          <p:nvPr/>
        </p:nvGrpSpPr>
        <p:grpSpPr>
          <a:xfrm>
            <a:off x="178904" y="119966"/>
            <a:ext cx="11834191" cy="6618067"/>
            <a:chOff x="185531" y="-1707075"/>
            <a:chExt cx="11807686" cy="844441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010810-5D5B-4382-B7B1-65065DF836B5}"/>
                </a:ext>
              </a:extLst>
            </p:cNvPr>
            <p:cNvSpPr/>
            <p:nvPr/>
          </p:nvSpPr>
          <p:spPr>
            <a:xfrm>
              <a:off x="185531" y="-1707075"/>
              <a:ext cx="11807686" cy="8444412"/>
            </a:xfrm>
            <a:prstGeom prst="rect">
              <a:avLst/>
            </a:prstGeom>
            <a:ln>
              <a:solidFill>
                <a:schemeClr val="bg1"/>
              </a:solidFill>
            </a:ln>
            <a:effectLst>
              <a:softEdge rad="38100"/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8BC93A0-3F34-44FA-9329-7A7ACE7A0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369" y="-1561645"/>
              <a:ext cx="498008" cy="853655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8F7C69-0D4F-47A1-B247-B78157811EAA}"/>
              </a:ext>
            </a:extLst>
          </p:cNvPr>
          <p:cNvSpPr/>
          <p:nvPr/>
        </p:nvSpPr>
        <p:spPr>
          <a:xfrm>
            <a:off x="977208" y="233943"/>
            <a:ext cx="10631696" cy="587001"/>
          </a:xfrm>
          <a:prstGeom prst="roundRect">
            <a:avLst/>
          </a:prstGeom>
          <a:solidFill>
            <a:srgbClr val="FB5623"/>
          </a:solidFill>
          <a:effectLst>
            <a:glow rad="12700">
              <a:schemeClr val="accent2">
                <a:satMod val="175000"/>
                <a:alpha val="40000"/>
              </a:schemeClr>
            </a:glo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Why Does Lucknow Generate Higher Revenue Than Mumbai and Hyderabad? </a:t>
            </a:r>
            <a:endParaRPr lang="en-US" sz="2300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A00299-BB32-4263-9423-3AAA6B67B98F}"/>
              </a:ext>
            </a:extLst>
          </p:cNvPr>
          <p:cNvSpPr txBox="1"/>
          <p:nvPr/>
        </p:nvSpPr>
        <p:spPr>
          <a:xfrm>
            <a:off x="6293056" y="2004708"/>
            <a:ext cx="5602940" cy="3549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Lucknow has one of the highest average dish prices among the top cities. 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800" b="1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A significant share of orders comes from premium quick-service chains such as KFC, McDonald's, Burger King and Pizza Hut. 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800" b="1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This combination is likely associated with higher revenue generation despite lower order volume.</a:t>
            </a:r>
            <a:endParaRPr lang="en-US" sz="1800" b="1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 algn="just"/>
            <a:endParaRPr lang="en-US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76D9B48-570C-4417-ADFF-C3351A57BF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557" y="5958284"/>
            <a:ext cx="842235" cy="8422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170CA1C-F1B1-49E3-8182-28FC86906C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004" y="1016948"/>
            <a:ext cx="6035310" cy="547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7430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5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9A15-6FAA-4CE7-B436-D5736BCF5B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F54C2-B827-40E5-94A6-1A4BBB1CDE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3B7CA7F-BD24-41B0-AACD-89E9952B672E}"/>
              </a:ext>
            </a:extLst>
          </p:cNvPr>
          <p:cNvGrpSpPr/>
          <p:nvPr/>
        </p:nvGrpSpPr>
        <p:grpSpPr>
          <a:xfrm>
            <a:off x="178904" y="119966"/>
            <a:ext cx="11834191" cy="6618067"/>
            <a:chOff x="185531" y="-1707075"/>
            <a:chExt cx="11807686" cy="844441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010810-5D5B-4382-B7B1-65065DF836B5}"/>
                </a:ext>
              </a:extLst>
            </p:cNvPr>
            <p:cNvSpPr/>
            <p:nvPr/>
          </p:nvSpPr>
          <p:spPr>
            <a:xfrm>
              <a:off x="185531" y="-1707075"/>
              <a:ext cx="11807686" cy="8444412"/>
            </a:xfrm>
            <a:prstGeom prst="rect">
              <a:avLst/>
            </a:prstGeom>
            <a:ln>
              <a:solidFill>
                <a:schemeClr val="bg1"/>
              </a:solidFill>
            </a:ln>
            <a:effectLst>
              <a:softEdge rad="38100"/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8BC93A0-3F34-44FA-9329-7A7ACE7A0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369" y="-1561645"/>
              <a:ext cx="498008" cy="853655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8F7C69-0D4F-47A1-B247-B78157811EAA}"/>
              </a:ext>
            </a:extLst>
          </p:cNvPr>
          <p:cNvSpPr/>
          <p:nvPr/>
        </p:nvSpPr>
        <p:spPr>
          <a:xfrm>
            <a:off x="977208" y="233943"/>
            <a:ext cx="10631696" cy="587001"/>
          </a:xfrm>
          <a:prstGeom prst="roundRect">
            <a:avLst/>
          </a:prstGeom>
          <a:solidFill>
            <a:srgbClr val="FB5623"/>
          </a:solidFill>
          <a:effectLst>
            <a:glow rad="12700">
              <a:schemeClr val="accent2">
                <a:satMod val="175000"/>
                <a:alpha val="40000"/>
              </a:schemeClr>
            </a:glo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Why Jaipur generates low revenue despite of high order count</a:t>
            </a:r>
            <a:r>
              <a:rPr lang="en-US" sz="2300" b="1" dirty="0"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 ?</a:t>
            </a:r>
            <a:endParaRPr lang="en-US" sz="2300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A00299-BB32-4263-9423-3AAA6B67B98F}"/>
              </a:ext>
            </a:extLst>
          </p:cNvPr>
          <p:cNvSpPr txBox="1"/>
          <p:nvPr/>
        </p:nvSpPr>
        <p:spPr>
          <a:xfrm>
            <a:off x="6075674" y="1411981"/>
            <a:ext cx="5655562" cy="4735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Jaipur's average dish price (₹243) is lower than other leading cities, reducing revenue generated per order. 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800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A large share of orders comes from local restaurants such as Burger Farm and Tan-</a:t>
            </a:r>
            <a:r>
              <a:rPr lang="en-US" sz="1800" dirty="0" err="1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Sukh</a:t>
            </a:r>
            <a:r>
              <a:rPr lang="en-US" sz="1800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 By Kanha, which have lower average menu prices than premium chains.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800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Introducing premium meal bundles or higher-value menu options at high-volume restaurants could increase average order value while maintaining demand.</a:t>
            </a:r>
            <a:endParaRPr lang="en-US" sz="1800" b="1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 algn="just"/>
            <a:endParaRPr lang="en-US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76D9B48-570C-4417-ADFF-C3351A57BF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9305" y="5845032"/>
            <a:ext cx="955488" cy="9554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F44172-C46F-44FF-9019-256B4959CA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64" y="1000935"/>
            <a:ext cx="5602940" cy="5623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9730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5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9A15-6FAA-4CE7-B436-D5736BCF5B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F54C2-B827-40E5-94A6-1A4BBB1CDE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3B7CA7F-BD24-41B0-AACD-89E9952B672E}"/>
              </a:ext>
            </a:extLst>
          </p:cNvPr>
          <p:cNvGrpSpPr/>
          <p:nvPr/>
        </p:nvGrpSpPr>
        <p:grpSpPr>
          <a:xfrm>
            <a:off x="178904" y="119966"/>
            <a:ext cx="11834191" cy="6618067"/>
            <a:chOff x="185531" y="-1707075"/>
            <a:chExt cx="11807686" cy="844441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010810-5D5B-4382-B7B1-65065DF836B5}"/>
                </a:ext>
              </a:extLst>
            </p:cNvPr>
            <p:cNvSpPr/>
            <p:nvPr/>
          </p:nvSpPr>
          <p:spPr>
            <a:xfrm>
              <a:off x="185531" y="-1707075"/>
              <a:ext cx="11807686" cy="8444412"/>
            </a:xfrm>
            <a:prstGeom prst="rect">
              <a:avLst/>
            </a:prstGeom>
            <a:ln>
              <a:solidFill>
                <a:schemeClr val="bg1"/>
              </a:solidFill>
            </a:ln>
            <a:effectLst>
              <a:softEdge rad="38100"/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8BC93A0-3F34-44FA-9329-7A7ACE7A0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369" y="-1561645"/>
              <a:ext cx="498008" cy="853655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8F7C69-0D4F-47A1-B247-B78157811EAA}"/>
              </a:ext>
            </a:extLst>
          </p:cNvPr>
          <p:cNvSpPr/>
          <p:nvPr/>
        </p:nvSpPr>
        <p:spPr>
          <a:xfrm>
            <a:off x="977208" y="233943"/>
            <a:ext cx="10631696" cy="587001"/>
          </a:xfrm>
          <a:prstGeom prst="roundRect">
            <a:avLst/>
          </a:prstGeom>
          <a:solidFill>
            <a:srgbClr val="FB5623"/>
          </a:solidFill>
          <a:effectLst>
            <a:glow rad="12700">
              <a:schemeClr val="accent2">
                <a:satMod val="175000"/>
                <a:alpha val="40000"/>
              </a:schemeClr>
            </a:glo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Main Course Demand Is Distributed Across Many Restaurants</a:t>
            </a:r>
            <a:endParaRPr lang="en-US" sz="2600" b="1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A00299-BB32-4263-9423-3AAA6B67B98F}"/>
              </a:ext>
            </a:extLst>
          </p:cNvPr>
          <p:cNvSpPr txBox="1"/>
          <p:nvPr/>
        </p:nvSpPr>
        <p:spPr>
          <a:xfrm>
            <a:off x="7832035" y="2118514"/>
            <a:ext cx="399989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Unlike categories such as Burgers or Desserts, where demand is concentrated among a few major restaurant chains, Main Course orders are distributed across a wider range of restaurants.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b="1" dirty="0">
              <a:effectLst/>
              <a:latin typeface="Segoe UI Semibold" panose="020B0702040204020203" pitchFamily="34" charset="0"/>
              <a:ea typeface="Times New Roman" panose="02020603050405020304" pitchFamily="18" charset="0"/>
              <a:cs typeface="Segoe UI Semibold" panose="020B07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This broader distribution reduces the likelihood of any single restaurant dominating overall order volume or revenue.</a:t>
            </a:r>
            <a:endParaRPr lang="en-US" sz="1800" b="1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 algn="just"/>
            <a:endParaRPr lang="en-US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76D9B48-570C-4417-ADFF-C3351A57BF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557" y="5958284"/>
            <a:ext cx="842235" cy="8422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A20999-1F94-4C35-941E-21B43A1CEE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004" y="913019"/>
            <a:ext cx="7536031" cy="29036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5D15EB-4A1B-4E30-9DC5-5C012FF1FC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792" y="3858591"/>
            <a:ext cx="7515243" cy="279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5474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5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9A15-6FAA-4CE7-B436-D5736BCF5B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F54C2-B827-40E5-94A6-1A4BBB1CDE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3B7CA7F-BD24-41B0-AACD-89E9952B672E}"/>
              </a:ext>
            </a:extLst>
          </p:cNvPr>
          <p:cNvGrpSpPr/>
          <p:nvPr/>
        </p:nvGrpSpPr>
        <p:grpSpPr>
          <a:xfrm>
            <a:off x="178904" y="119966"/>
            <a:ext cx="11834191" cy="6618067"/>
            <a:chOff x="185531" y="-1707075"/>
            <a:chExt cx="11807686" cy="844441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010810-5D5B-4382-B7B1-65065DF836B5}"/>
                </a:ext>
              </a:extLst>
            </p:cNvPr>
            <p:cNvSpPr/>
            <p:nvPr/>
          </p:nvSpPr>
          <p:spPr>
            <a:xfrm>
              <a:off x="185531" y="-1707075"/>
              <a:ext cx="11807686" cy="8444412"/>
            </a:xfrm>
            <a:prstGeom prst="rect">
              <a:avLst/>
            </a:prstGeom>
            <a:ln>
              <a:solidFill>
                <a:schemeClr val="bg1"/>
              </a:solidFill>
            </a:ln>
            <a:effectLst>
              <a:softEdge rad="38100"/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8BC93A0-3F34-44FA-9329-7A7ACE7A0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369" y="-1561645"/>
              <a:ext cx="498008" cy="853655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8F7C69-0D4F-47A1-B247-B78157811EAA}"/>
              </a:ext>
            </a:extLst>
          </p:cNvPr>
          <p:cNvSpPr/>
          <p:nvPr/>
        </p:nvSpPr>
        <p:spPr>
          <a:xfrm>
            <a:off x="977208" y="233943"/>
            <a:ext cx="10631696" cy="587001"/>
          </a:xfrm>
          <a:prstGeom prst="roundRect">
            <a:avLst/>
          </a:prstGeom>
          <a:solidFill>
            <a:srgbClr val="FB5623"/>
          </a:solidFill>
          <a:effectLst>
            <a:glow rad="12700">
              <a:schemeClr val="accent2">
                <a:satMod val="175000"/>
                <a:alpha val="40000"/>
              </a:schemeClr>
            </a:glo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effectLst/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Customer Ratings Indicate Strong Overall Service Quality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A00299-BB32-4263-9423-3AAA6B67B98F}"/>
              </a:ext>
            </a:extLst>
          </p:cNvPr>
          <p:cNvSpPr txBox="1"/>
          <p:nvPr/>
        </p:nvSpPr>
        <p:spPr>
          <a:xfrm>
            <a:off x="688650" y="4492195"/>
            <a:ext cx="109066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4.40 is the rating which has received the highest rating count , nearly 43.3 % of total orders,</a:t>
            </a:r>
            <a:r>
              <a:rPr lang="en-US" sz="1800" b="1" dirty="0">
                <a:effectLst/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 </a:t>
            </a:r>
            <a:r>
              <a:rPr lang="en-US" sz="18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indicating a consistently positive customer experience</a:t>
            </a:r>
          </a:p>
          <a:p>
            <a:pPr algn="just"/>
            <a:r>
              <a:rPr lang="en-US" sz="18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Only 1.7% of orders received ratings below 3, suggesting relatively few poor customer experiences</a:t>
            </a:r>
            <a:r>
              <a:rPr lang="en-US" b="1" dirty="0"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b="1" dirty="0">
              <a:latin typeface="Segoe UI Semibold" panose="020B0702040204020203" pitchFamily="34" charset="0"/>
              <a:ea typeface="Times New Roman" panose="02020603050405020304" pitchFamily="18" charset="0"/>
              <a:cs typeface="Segoe UI Semibold" panose="020B07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One interesting exception was Gujarat, which recorded unusually high 5-star ratings despite not being among the top-order states. This was investigated further.</a:t>
            </a:r>
          </a:p>
          <a:p>
            <a:pPr algn="just"/>
            <a:endParaRPr lang="en-US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5DD44B-1A7C-438D-9D83-9EB56CCE1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50" y="1092856"/>
            <a:ext cx="5499738" cy="33132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496794F-2034-4668-A41D-17CA7278FA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388" y="1092856"/>
            <a:ext cx="5499738" cy="33132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FB19EE5-13FB-4B1D-BEE6-E1EC3F61C4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334498" y="6016487"/>
            <a:ext cx="857502" cy="85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697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5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9A15-6FAA-4CE7-B436-D5736BCF5B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F54C2-B827-40E5-94A6-1A4BBB1CDE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3B7CA7F-BD24-41B0-AACD-89E9952B672E}"/>
              </a:ext>
            </a:extLst>
          </p:cNvPr>
          <p:cNvGrpSpPr/>
          <p:nvPr/>
        </p:nvGrpSpPr>
        <p:grpSpPr>
          <a:xfrm>
            <a:off x="178904" y="119966"/>
            <a:ext cx="11834191" cy="6618067"/>
            <a:chOff x="185531" y="-1707075"/>
            <a:chExt cx="11807686" cy="844441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010810-5D5B-4382-B7B1-65065DF836B5}"/>
                </a:ext>
              </a:extLst>
            </p:cNvPr>
            <p:cNvSpPr/>
            <p:nvPr/>
          </p:nvSpPr>
          <p:spPr>
            <a:xfrm>
              <a:off x="185531" y="-1707075"/>
              <a:ext cx="11807686" cy="8444412"/>
            </a:xfrm>
            <a:prstGeom prst="rect">
              <a:avLst/>
            </a:prstGeom>
            <a:ln>
              <a:solidFill>
                <a:schemeClr val="bg1"/>
              </a:solidFill>
            </a:ln>
            <a:effectLst>
              <a:softEdge rad="38100"/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8BC93A0-3F34-44FA-9329-7A7ACE7A0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369" y="-1561645"/>
              <a:ext cx="498008" cy="853655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8F7C69-0D4F-47A1-B247-B78157811EAA}"/>
              </a:ext>
            </a:extLst>
          </p:cNvPr>
          <p:cNvSpPr/>
          <p:nvPr/>
        </p:nvSpPr>
        <p:spPr>
          <a:xfrm>
            <a:off x="977208" y="233943"/>
            <a:ext cx="10631696" cy="587001"/>
          </a:xfrm>
          <a:prstGeom prst="roundRect">
            <a:avLst/>
          </a:prstGeom>
          <a:solidFill>
            <a:srgbClr val="FB5623"/>
          </a:solidFill>
          <a:effectLst>
            <a:glow rad="12700">
              <a:schemeClr val="accent2">
                <a:satMod val="175000"/>
                <a:alpha val="40000"/>
              </a:schemeClr>
            </a:glo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effectLst/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Why Does Gujarat Receive More 5-Star Ratings?</a:t>
            </a:r>
            <a:endParaRPr lang="en-US" sz="2600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A00299-BB32-4263-9423-3AAA6B67B98F}"/>
              </a:ext>
            </a:extLst>
          </p:cNvPr>
          <p:cNvSpPr txBox="1"/>
          <p:nvPr/>
        </p:nvSpPr>
        <p:spPr>
          <a:xfrm>
            <a:off x="2138111" y="3876941"/>
            <a:ext cx="9144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Gujarat records a disproportionately high number of 5-star ratings despite relatively lower order volume.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b="1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Within Gujarat, Jayhind Sweets stands out with approximately 19.5% of its orders receiving a 5-star rating.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b="1" dirty="0">
              <a:effectLst/>
              <a:latin typeface="Segoe UI Semibold" panose="020B0702040204020203" pitchFamily="34" charset="0"/>
              <a:ea typeface="Times New Roman" panose="02020603050405020304" pitchFamily="18" charset="0"/>
              <a:cs typeface="Segoe UI Semibold" panose="020B07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Namkeen and Dry fruit Sweets combine high demand with consistently high customer ratings, making them strong candidates for promotional campaigns.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b="1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Swiggy could test increased visibility for these products through featured placements or recommendations and monitor the impact on order volume.</a:t>
            </a:r>
            <a:endParaRPr lang="en-US" sz="1600" b="1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C7A01A-54DF-47C9-8C4C-DEF98A4863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282111" y="5976730"/>
            <a:ext cx="909888" cy="9098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E8A75A-B9DC-445C-9AA7-6F4257DF39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950" y="3939470"/>
            <a:ext cx="1643099" cy="7335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7EDAAD9-7803-4C5F-9937-AF269E3998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949" y="4781858"/>
            <a:ext cx="1643099" cy="78294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79783C3-A029-4516-9145-0B7BCBD3B4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998" y="989589"/>
            <a:ext cx="5824001" cy="281378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FF59C9F-5D19-44D7-B13A-99B7412CF6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9152" y="989590"/>
            <a:ext cx="5618923" cy="281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3008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5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9A15-6FAA-4CE7-B436-D5736BCF5B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F54C2-B827-40E5-94A6-1A4BBB1CDE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3B7CA7F-BD24-41B0-AACD-89E9952B672E}"/>
              </a:ext>
            </a:extLst>
          </p:cNvPr>
          <p:cNvGrpSpPr/>
          <p:nvPr/>
        </p:nvGrpSpPr>
        <p:grpSpPr>
          <a:xfrm>
            <a:off x="178903" y="190305"/>
            <a:ext cx="11834191" cy="6477390"/>
            <a:chOff x="185531" y="-1707075"/>
            <a:chExt cx="11807686" cy="8444412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010810-5D5B-4382-B7B1-65065DF836B5}"/>
                </a:ext>
              </a:extLst>
            </p:cNvPr>
            <p:cNvSpPr/>
            <p:nvPr/>
          </p:nvSpPr>
          <p:spPr>
            <a:xfrm>
              <a:off x="185531" y="-1707075"/>
              <a:ext cx="11807686" cy="8444412"/>
            </a:xfrm>
            <a:prstGeom prst="rect">
              <a:avLst/>
            </a:prstGeom>
            <a:ln>
              <a:solidFill>
                <a:schemeClr val="bg1"/>
              </a:solidFill>
            </a:ln>
            <a:effectLst>
              <a:softEdge rad="38100"/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8BC93A0-3F34-44FA-9329-7A7ACE7A0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369" y="-1561645"/>
              <a:ext cx="498008" cy="853655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8F7C69-0D4F-47A1-B247-B78157811EAA}"/>
              </a:ext>
            </a:extLst>
          </p:cNvPr>
          <p:cNvSpPr/>
          <p:nvPr/>
        </p:nvSpPr>
        <p:spPr>
          <a:xfrm>
            <a:off x="977208" y="363663"/>
            <a:ext cx="10631696" cy="587001"/>
          </a:xfrm>
          <a:prstGeom prst="roundRect">
            <a:avLst/>
          </a:prstGeom>
          <a:solidFill>
            <a:srgbClr val="FB5623"/>
          </a:solidFill>
          <a:effectLst>
            <a:glow rad="12700">
              <a:schemeClr val="accent2">
                <a:satMod val="175000"/>
                <a:alpha val="40000"/>
              </a:schemeClr>
            </a:glo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effectLst/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Strategic Recommendations: Marketing &amp; Expansion</a:t>
            </a:r>
            <a:endParaRPr lang="en-US" sz="2400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A00299-BB32-4263-9423-3AAA6B67B98F}"/>
              </a:ext>
            </a:extLst>
          </p:cNvPr>
          <p:cNvSpPr txBox="1"/>
          <p:nvPr/>
        </p:nvSpPr>
        <p:spPr>
          <a:xfrm>
            <a:off x="545569" y="1918308"/>
            <a:ext cx="9632471" cy="3983655"/>
          </a:xfrm>
          <a:prstGeom prst="rect">
            <a:avLst/>
          </a:prstGeom>
          <a:noFill/>
          <a:ln w="12700"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2200" b="1" dirty="0">
              <a:solidFill>
                <a:srgbClr val="FB5623"/>
              </a:solidFill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1) Targeted weekend campaigns for marketing.</a:t>
            </a:r>
            <a:endParaRPr lang="en-US" sz="1800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 </a:t>
            </a:r>
            <a:endParaRPr lang="en-US" sz="1800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2) Investigate why premium restaurant chains perform exceptionally well in Lucknow. If operational or promotional differences are identified, replicate successful practices in Mumbai and Hyderabad. Also evaluate partnerships with high-performing local restaurants such as Shiv Sagar Veg Restaurant and Bikanervala.</a:t>
            </a:r>
            <a:endParaRPr lang="en-US" sz="1800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 </a:t>
            </a:r>
            <a:endParaRPr lang="en-US" sz="1800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3) Partner with restaurants in low-coverage cities like Gangtok , Kohima, Aizawl to increase the revenue and order volume</a:t>
            </a:r>
            <a:endParaRPr lang="en-US" sz="1800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 algn="just"/>
            <a:endParaRPr lang="en-US" sz="1600" b="1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B2DFFB-4FAD-40AA-9C48-6B126758CE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494" y="4481557"/>
            <a:ext cx="2387600" cy="23876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07565D8-A323-4B83-86FA-B16854C80800}"/>
              </a:ext>
            </a:extLst>
          </p:cNvPr>
          <p:cNvSpPr/>
          <p:nvPr/>
        </p:nvSpPr>
        <p:spPr>
          <a:xfrm>
            <a:off x="545566" y="1407291"/>
            <a:ext cx="572400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B5623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Marketing &amp; Expansion 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B5623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867050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5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9A15-6FAA-4CE7-B436-D5736BCF5B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F54C2-B827-40E5-94A6-1A4BBB1CDE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3B7CA7F-BD24-41B0-AACD-89E9952B672E}"/>
              </a:ext>
            </a:extLst>
          </p:cNvPr>
          <p:cNvGrpSpPr/>
          <p:nvPr/>
        </p:nvGrpSpPr>
        <p:grpSpPr>
          <a:xfrm>
            <a:off x="178903" y="190305"/>
            <a:ext cx="11834191" cy="6477390"/>
            <a:chOff x="185531" y="-1707075"/>
            <a:chExt cx="11807686" cy="8444412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010810-5D5B-4382-B7B1-65065DF836B5}"/>
                </a:ext>
              </a:extLst>
            </p:cNvPr>
            <p:cNvSpPr/>
            <p:nvPr/>
          </p:nvSpPr>
          <p:spPr>
            <a:xfrm>
              <a:off x="185531" y="-1707075"/>
              <a:ext cx="11807686" cy="8444412"/>
            </a:xfrm>
            <a:prstGeom prst="rect">
              <a:avLst/>
            </a:prstGeom>
            <a:ln>
              <a:solidFill>
                <a:schemeClr val="bg1"/>
              </a:solidFill>
            </a:ln>
            <a:effectLst>
              <a:softEdge rad="38100"/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8BC93A0-3F34-44FA-9329-7A7ACE7A0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369" y="-1561645"/>
              <a:ext cx="498008" cy="853655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8F7C69-0D4F-47A1-B247-B78157811EAA}"/>
              </a:ext>
            </a:extLst>
          </p:cNvPr>
          <p:cNvSpPr/>
          <p:nvPr/>
        </p:nvSpPr>
        <p:spPr>
          <a:xfrm>
            <a:off x="977208" y="363663"/>
            <a:ext cx="10631696" cy="587001"/>
          </a:xfrm>
          <a:prstGeom prst="roundRect">
            <a:avLst/>
          </a:prstGeom>
          <a:solidFill>
            <a:srgbClr val="FB5623"/>
          </a:solidFill>
          <a:effectLst>
            <a:glow rad="12700">
              <a:schemeClr val="accent2">
                <a:satMod val="175000"/>
                <a:alpha val="40000"/>
              </a:schemeClr>
            </a:glo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effectLst/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Strategic Recommendations: Revenue Growth &amp; Customer Experience</a:t>
            </a:r>
            <a:endParaRPr lang="en-US" sz="2400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A00299-BB32-4263-9423-3AAA6B67B98F}"/>
              </a:ext>
            </a:extLst>
          </p:cNvPr>
          <p:cNvSpPr txBox="1"/>
          <p:nvPr/>
        </p:nvSpPr>
        <p:spPr>
          <a:xfrm>
            <a:off x="545566" y="1402368"/>
            <a:ext cx="9583172" cy="5925661"/>
          </a:xfrm>
          <a:prstGeom prst="rect">
            <a:avLst/>
          </a:prstGeom>
          <a:noFill/>
          <a:ln w="12700"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US" b="1" dirty="0">
              <a:solidFill>
                <a:srgbClr val="FB5623"/>
              </a:solidFill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In Jaipur, introduce premium meal bundles, combo offers, or higher-value menu items at high-order local restaurants such as Burger Farm and Tan-</a:t>
            </a:r>
            <a:r>
              <a:rPr lang="en-US" b="1" dirty="0" err="1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Sukh</a:t>
            </a:r>
            <a:r>
              <a:rPr lang="en-US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 By Kanha to increase the average revenue generated per order while maintaining existing order volume.</a:t>
            </a:r>
            <a:endParaRPr lang="en-US" b="1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endParaRPr lang="en-US" b="1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Restaurants specializing in Main Course items could explore expanding into complementary high-demand categories such as Desserts or Beverages to increase average order value. Similarly, Swiggy could recommend add-on items from these categories during checkout to encourage cross-category purchases</a:t>
            </a:r>
            <a:r>
              <a:rPr lang="en-US" sz="18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solidFill>
                  <a:srgbClr val="FB5623"/>
                </a:solidFill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Customer Experience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Jayhind Sweets - Namkeen and </a:t>
            </a:r>
            <a:r>
              <a:rPr lang="en-US" sz="1800" b="1" dirty="0" err="1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Dryfruit</a:t>
            </a:r>
            <a:r>
              <a:rPr lang="en-US" sz="18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 Sweets consistently receive both high order volume and a relatively high proportion of 5-star ratings. Swiggy could consider increasing the visibility of these products within Gujarat through featured placements or recommendation sections and monitor whether this leads to higher order volume and revenue.</a:t>
            </a:r>
            <a:endParaRPr lang="en-US" sz="1800" b="1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1800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 </a:t>
            </a:r>
            <a:endParaRPr lang="en-US" sz="1800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B2DFFB-4FAD-40AA-9C48-6B126758CE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494" y="4481557"/>
            <a:ext cx="2387600" cy="23876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07565D8-A323-4B83-86FA-B16854C80800}"/>
              </a:ext>
            </a:extLst>
          </p:cNvPr>
          <p:cNvSpPr/>
          <p:nvPr/>
        </p:nvSpPr>
        <p:spPr>
          <a:xfrm>
            <a:off x="545566" y="1122363"/>
            <a:ext cx="403540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B5623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Increase Revenue </a:t>
            </a:r>
          </a:p>
        </p:txBody>
      </p:sp>
    </p:spTree>
    <p:extLst>
      <p:ext uri="{BB962C8B-B14F-4D97-AF65-F5344CB8AC3E}">
        <p14:creationId xmlns:p14="http://schemas.microsoft.com/office/powerpoint/2010/main" val="30579659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5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9A15-6FAA-4CE7-B436-D5736BCF5B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F54C2-B827-40E5-94A6-1A4BBB1CDE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3B7CA7F-BD24-41B0-AACD-89E9952B672E}"/>
              </a:ext>
            </a:extLst>
          </p:cNvPr>
          <p:cNvGrpSpPr/>
          <p:nvPr/>
        </p:nvGrpSpPr>
        <p:grpSpPr>
          <a:xfrm>
            <a:off x="178903" y="190305"/>
            <a:ext cx="11834191" cy="6477390"/>
            <a:chOff x="185531" y="-1707075"/>
            <a:chExt cx="11807686" cy="8444412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010810-5D5B-4382-B7B1-65065DF836B5}"/>
                </a:ext>
              </a:extLst>
            </p:cNvPr>
            <p:cNvSpPr/>
            <p:nvPr/>
          </p:nvSpPr>
          <p:spPr>
            <a:xfrm>
              <a:off x="185531" y="-1707075"/>
              <a:ext cx="11807686" cy="8444412"/>
            </a:xfrm>
            <a:prstGeom prst="rect">
              <a:avLst/>
            </a:prstGeom>
            <a:ln>
              <a:solidFill>
                <a:schemeClr val="bg1"/>
              </a:solidFill>
            </a:ln>
            <a:effectLst>
              <a:softEdge rad="38100"/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8BC93A0-3F34-44FA-9329-7A7ACE7A0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369" y="-1561644"/>
              <a:ext cx="379007" cy="649671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8F7C69-0D4F-47A1-B247-B78157811EAA}"/>
              </a:ext>
            </a:extLst>
          </p:cNvPr>
          <p:cNvSpPr/>
          <p:nvPr/>
        </p:nvSpPr>
        <p:spPr>
          <a:xfrm>
            <a:off x="795129" y="5244633"/>
            <a:ext cx="7727746" cy="587001"/>
          </a:xfrm>
          <a:prstGeom prst="roundRect">
            <a:avLst/>
          </a:prstGeom>
          <a:solidFill>
            <a:srgbClr val="FB5623"/>
          </a:solidFill>
          <a:effectLst>
            <a:glow rad="12700">
              <a:schemeClr val="accent2">
                <a:satMod val="175000"/>
                <a:alpha val="40000"/>
              </a:schemeClr>
            </a:glo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Questions and Discussions </a:t>
            </a:r>
            <a:endParaRPr lang="en-US" sz="2400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12BC88-D7C7-4EB3-90C1-52B98809600A}"/>
              </a:ext>
            </a:extLst>
          </p:cNvPr>
          <p:cNvSpPr txBox="1"/>
          <p:nvPr/>
        </p:nvSpPr>
        <p:spPr>
          <a:xfrm>
            <a:off x="-357206" y="4286078"/>
            <a:ext cx="62638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THANK YOU !!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DE096D-BD28-48FC-BA0E-5580A06849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29" y="749930"/>
            <a:ext cx="5950283" cy="33470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5450CA5-0A78-4330-AF54-E69880585A38}"/>
              </a:ext>
            </a:extLst>
          </p:cNvPr>
          <p:cNvSpPr txBox="1"/>
          <p:nvPr/>
        </p:nvSpPr>
        <p:spPr>
          <a:xfrm>
            <a:off x="9493013" y="6051377"/>
            <a:ext cx="45410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solidFill>
                  <a:srgbClr val="FB5623"/>
                </a:solidFill>
              </a:rPr>
              <a:t>            </a:t>
            </a:r>
            <a:r>
              <a:rPr lang="en-US" sz="1600" b="1" i="1" dirty="0">
                <a:solidFill>
                  <a:srgbClr val="FB5623"/>
                </a:solidFill>
              </a:rPr>
              <a:t>Prathamesh Patil</a:t>
            </a:r>
          </a:p>
          <a:p>
            <a:r>
              <a:rPr lang="en-US" sz="1400" b="1" i="1" dirty="0">
                <a:solidFill>
                  <a:srgbClr val="FB5623"/>
                </a:solidFill>
              </a:rPr>
              <a:t>Data Analytics Portfolio Project</a:t>
            </a:r>
          </a:p>
        </p:txBody>
      </p:sp>
    </p:spTree>
    <p:extLst>
      <p:ext uri="{BB962C8B-B14F-4D97-AF65-F5344CB8AC3E}">
        <p14:creationId xmlns:p14="http://schemas.microsoft.com/office/powerpoint/2010/main" val="27605383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5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9A15-6FAA-4CE7-B436-D5736BCF5B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F54C2-B827-40E5-94A6-1A4BBB1CDE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3B7CA7F-BD24-41B0-AACD-89E9952B672E}"/>
              </a:ext>
            </a:extLst>
          </p:cNvPr>
          <p:cNvGrpSpPr/>
          <p:nvPr/>
        </p:nvGrpSpPr>
        <p:grpSpPr>
          <a:xfrm>
            <a:off x="178903" y="190305"/>
            <a:ext cx="11834191" cy="6477390"/>
            <a:chOff x="185531" y="-1707075"/>
            <a:chExt cx="11807686" cy="8444412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010810-5D5B-4382-B7B1-65065DF836B5}"/>
                </a:ext>
              </a:extLst>
            </p:cNvPr>
            <p:cNvSpPr/>
            <p:nvPr/>
          </p:nvSpPr>
          <p:spPr>
            <a:xfrm>
              <a:off x="185531" y="-1707075"/>
              <a:ext cx="11807686" cy="8444412"/>
            </a:xfrm>
            <a:prstGeom prst="rect">
              <a:avLst/>
            </a:prstGeom>
            <a:ln>
              <a:solidFill>
                <a:schemeClr val="bg1"/>
              </a:solidFill>
            </a:ln>
            <a:effectLst>
              <a:softEdge rad="38100"/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8BC93A0-3F34-44FA-9329-7A7ACE7A0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368" y="-1561645"/>
              <a:ext cx="630234" cy="1080310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8F7C69-0D4F-47A1-B247-B78157811EAA}"/>
              </a:ext>
            </a:extLst>
          </p:cNvPr>
          <p:cNvSpPr/>
          <p:nvPr/>
        </p:nvSpPr>
        <p:spPr>
          <a:xfrm>
            <a:off x="5099915" y="2272472"/>
            <a:ext cx="6332296" cy="1363857"/>
          </a:xfrm>
          <a:prstGeom prst="roundRect">
            <a:avLst/>
          </a:prstGeom>
          <a:solidFill>
            <a:srgbClr val="FB5623"/>
          </a:solidFill>
          <a:effectLst>
            <a:glow rad="12700">
              <a:schemeClr val="accent2">
                <a:satMod val="175000"/>
                <a:alpha val="40000"/>
              </a:schemeClr>
            </a:glo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effectLst/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APPENDIX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A00299-BB32-4263-9423-3AAA6B67B98F}"/>
              </a:ext>
            </a:extLst>
          </p:cNvPr>
          <p:cNvSpPr txBox="1"/>
          <p:nvPr/>
        </p:nvSpPr>
        <p:spPr>
          <a:xfrm>
            <a:off x="545566" y="1402368"/>
            <a:ext cx="9583172" cy="765851"/>
          </a:xfrm>
          <a:prstGeom prst="rect">
            <a:avLst/>
          </a:prstGeom>
          <a:noFill/>
          <a:ln w="12700"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1800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 </a:t>
            </a:r>
            <a:endParaRPr lang="en-US" sz="1800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669217-9DE2-4C43-9C06-B3A85B1F35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042" y="991879"/>
            <a:ext cx="4528166" cy="452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0358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5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9A15-6FAA-4CE7-B436-D5736BCF5B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F54C2-B827-40E5-94A6-1A4BBB1CDE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3B7CA7F-BD24-41B0-AACD-89E9952B672E}"/>
              </a:ext>
            </a:extLst>
          </p:cNvPr>
          <p:cNvGrpSpPr/>
          <p:nvPr/>
        </p:nvGrpSpPr>
        <p:grpSpPr>
          <a:xfrm>
            <a:off x="178903" y="190305"/>
            <a:ext cx="11834191" cy="6477390"/>
            <a:chOff x="185531" y="-1707075"/>
            <a:chExt cx="11807686" cy="8444412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010810-5D5B-4382-B7B1-65065DF836B5}"/>
                </a:ext>
              </a:extLst>
            </p:cNvPr>
            <p:cNvSpPr/>
            <p:nvPr/>
          </p:nvSpPr>
          <p:spPr>
            <a:xfrm>
              <a:off x="185531" y="-1707075"/>
              <a:ext cx="11807686" cy="8444412"/>
            </a:xfrm>
            <a:prstGeom prst="rect">
              <a:avLst/>
            </a:prstGeom>
            <a:ln>
              <a:solidFill>
                <a:schemeClr val="bg1"/>
              </a:solidFill>
            </a:ln>
            <a:effectLst>
              <a:softEdge rad="38100"/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8BC93A0-3F34-44FA-9329-7A7ACE7A0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369" y="-1561645"/>
              <a:ext cx="498008" cy="853655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8F7C69-0D4F-47A1-B247-B78157811EAA}"/>
              </a:ext>
            </a:extLst>
          </p:cNvPr>
          <p:cNvSpPr/>
          <p:nvPr/>
        </p:nvSpPr>
        <p:spPr>
          <a:xfrm>
            <a:off x="977208" y="363663"/>
            <a:ext cx="10631696" cy="587001"/>
          </a:xfrm>
          <a:prstGeom prst="roundRect">
            <a:avLst/>
          </a:prstGeom>
          <a:solidFill>
            <a:srgbClr val="FB5623"/>
          </a:solidFill>
          <a:effectLst>
            <a:glow rad="12700">
              <a:schemeClr val="accent2">
                <a:satMod val="175000"/>
                <a:alpha val="40000"/>
              </a:schemeClr>
            </a:glo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effectLst/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Quarterly Trends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A00299-BB32-4263-9423-3AAA6B67B98F}"/>
              </a:ext>
            </a:extLst>
          </p:cNvPr>
          <p:cNvSpPr txBox="1"/>
          <p:nvPr/>
        </p:nvSpPr>
        <p:spPr>
          <a:xfrm>
            <a:off x="5553671" y="2394597"/>
            <a:ext cx="5445634" cy="2555443"/>
          </a:xfrm>
          <a:prstGeom prst="rect">
            <a:avLst/>
          </a:prstGeom>
          <a:noFill/>
          <a:ln w="12700"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Quarterly trend for Order volume and revenue is same 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	</a:t>
            </a:r>
            <a:r>
              <a:rPr lang="en-US" sz="1800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Q2 (April -May-June) is top performing,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	</a:t>
            </a:r>
            <a:r>
              <a:rPr lang="en-US" sz="1800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Q1 (Jan-Feb-March) is second highest ,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	</a:t>
            </a:r>
            <a:r>
              <a:rPr lang="en-US" sz="1800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Q3 (July-Aug) is the 3rd Highest as it 	contained two months data only.</a:t>
            </a:r>
            <a:endParaRPr lang="en-US" sz="1800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 </a:t>
            </a:r>
            <a:endParaRPr lang="en-US" sz="1800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E59DAFA-B339-4E31-A8D4-02468B0F2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257" y="1600200"/>
            <a:ext cx="4906060" cy="35400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C91B1CA-F80E-4A24-BB3F-6640FD005D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5260" y="5349875"/>
            <a:ext cx="1397834" cy="127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6296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5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9A15-6FAA-4CE7-B436-D5736BCF5B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F54C2-B827-40E5-94A6-1A4BBB1CDE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3B7CA7F-BD24-41B0-AACD-89E9952B672E}"/>
              </a:ext>
            </a:extLst>
          </p:cNvPr>
          <p:cNvGrpSpPr/>
          <p:nvPr/>
        </p:nvGrpSpPr>
        <p:grpSpPr>
          <a:xfrm>
            <a:off x="178906" y="190305"/>
            <a:ext cx="11834191" cy="6477390"/>
            <a:chOff x="185531" y="-1707075"/>
            <a:chExt cx="11807686" cy="8444412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010810-5D5B-4382-B7B1-65065DF836B5}"/>
                </a:ext>
              </a:extLst>
            </p:cNvPr>
            <p:cNvSpPr/>
            <p:nvPr/>
          </p:nvSpPr>
          <p:spPr>
            <a:xfrm>
              <a:off x="185531" y="-1707075"/>
              <a:ext cx="11807686" cy="8444412"/>
            </a:xfrm>
            <a:prstGeom prst="rect">
              <a:avLst/>
            </a:prstGeom>
            <a:ln>
              <a:solidFill>
                <a:schemeClr val="bg1"/>
              </a:solidFill>
            </a:ln>
            <a:effectLst>
              <a:softEdge rad="38100"/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8BC93A0-3F34-44FA-9329-7A7ACE7A0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9753" y="-1525272"/>
              <a:ext cx="498008" cy="853656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8F7C69-0D4F-47A1-B247-B78157811EAA}"/>
              </a:ext>
            </a:extLst>
          </p:cNvPr>
          <p:cNvSpPr/>
          <p:nvPr/>
        </p:nvSpPr>
        <p:spPr>
          <a:xfrm>
            <a:off x="977208" y="363663"/>
            <a:ext cx="10631696" cy="587001"/>
          </a:xfrm>
          <a:prstGeom prst="roundRect">
            <a:avLst/>
          </a:prstGeom>
          <a:solidFill>
            <a:srgbClr val="FB5623"/>
          </a:solidFill>
          <a:effectLst>
            <a:glow rad="12700">
              <a:schemeClr val="accent2">
                <a:satMod val="175000"/>
                <a:alpha val="40000"/>
              </a:schemeClr>
            </a:glo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6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Low performing Restaurants </a:t>
            </a:r>
            <a:endParaRPr lang="en-US" sz="2600" b="1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A00299-BB32-4263-9423-3AAA6B67B98F}"/>
              </a:ext>
            </a:extLst>
          </p:cNvPr>
          <p:cNvSpPr txBox="1"/>
          <p:nvPr/>
        </p:nvSpPr>
        <p:spPr>
          <a:xfrm>
            <a:off x="504967" y="5503503"/>
            <a:ext cx="10110290" cy="664734"/>
          </a:xfrm>
          <a:prstGeom prst="rect">
            <a:avLst/>
          </a:prstGeom>
          <a:noFill/>
          <a:ln w="12700"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Barq</a:t>
            </a:r>
            <a:r>
              <a:rPr lang="en-US" sz="1800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 Foods, Anand Sweets &amp; </a:t>
            </a:r>
            <a:r>
              <a:rPr lang="en-US" sz="1800" dirty="0" err="1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Savouries</a:t>
            </a:r>
            <a:r>
              <a:rPr lang="en-US" sz="1800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 , The Complete Comfort Zone , Hungry Point are restaurants with low revenue . They have 1-2 orders only in whole span of 8  months  </a:t>
            </a:r>
            <a:endParaRPr lang="en-US" sz="1800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C91B1CA-F80E-4A24-BB3F-6640FD005D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5260" y="5349875"/>
            <a:ext cx="1397834" cy="12748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867694-7A6E-4A60-9B87-E3812C850E1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428" t="2688" r="1834"/>
          <a:stretch/>
        </p:blipFill>
        <p:spPr>
          <a:xfrm>
            <a:off x="501900" y="1312185"/>
            <a:ext cx="5268036" cy="37348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42F625-29FB-41AC-BD2B-1B1F2DB75B2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598" t="3052" r="1651" b="4147"/>
          <a:stretch/>
        </p:blipFill>
        <p:spPr>
          <a:xfrm>
            <a:off x="6096000" y="1312184"/>
            <a:ext cx="5591033" cy="373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3154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5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9A15-6FAA-4CE7-B436-D5736BCF5B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F54C2-B827-40E5-94A6-1A4BBB1CDE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3B7CA7F-BD24-41B0-AACD-89E9952B672E}"/>
              </a:ext>
            </a:extLst>
          </p:cNvPr>
          <p:cNvGrpSpPr/>
          <p:nvPr/>
        </p:nvGrpSpPr>
        <p:grpSpPr>
          <a:xfrm>
            <a:off x="178906" y="190305"/>
            <a:ext cx="11834191" cy="6477390"/>
            <a:chOff x="185531" y="-1707075"/>
            <a:chExt cx="11807686" cy="8444412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010810-5D5B-4382-B7B1-65065DF836B5}"/>
                </a:ext>
              </a:extLst>
            </p:cNvPr>
            <p:cNvSpPr/>
            <p:nvPr/>
          </p:nvSpPr>
          <p:spPr>
            <a:xfrm>
              <a:off x="185531" y="-1707075"/>
              <a:ext cx="11807686" cy="8444412"/>
            </a:xfrm>
            <a:prstGeom prst="rect">
              <a:avLst/>
            </a:prstGeom>
            <a:ln>
              <a:solidFill>
                <a:schemeClr val="bg1"/>
              </a:solidFill>
            </a:ln>
            <a:effectLst>
              <a:softEdge rad="38100"/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8BC93A0-3F34-44FA-9329-7A7ACE7A0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9753" y="-1525272"/>
              <a:ext cx="498008" cy="853656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8F7C69-0D4F-47A1-B247-B78157811EAA}"/>
              </a:ext>
            </a:extLst>
          </p:cNvPr>
          <p:cNvSpPr/>
          <p:nvPr/>
        </p:nvSpPr>
        <p:spPr>
          <a:xfrm>
            <a:off x="977208" y="363663"/>
            <a:ext cx="10631696" cy="587001"/>
          </a:xfrm>
          <a:prstGeom prst="roundRect">
            <a:avLst/>
          </a:prstGeom>
          <a:solidFill>
            <a:srgbClr val="FB5623"/>
          </a:solidFill>
          <a:effectLst>
            <a:glow rad="12700">
              <a:schemeClr val="accent2">
                <a:satMod val="175000"/>
                <a:alpha val="40000"/>
              </a:schemeClr>
            </a:glo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Most Ordered Dishes </a:t>
            </a:r>
            <a:endParaRPr lang="en-US" sz="2600" b="1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A00299-BB32-4263-9423-3AAA6B67B98F}"/>
              </a:ext>
            </a:extLst>
          </p:cNvPr>
          <p:cNvSpPr txBox="1"/>
          <p:nvPr/>
        </p:nvSpPr>
        <p:spPr>
          <a:xfrm>
            <a:off x="2611369" y="5279623"/>
            <a:ext cx="6969259" cy="664734"/>
          </a:xfrm>
          <a:prstGeom prst="rect">
            <a:avLst/>
          </a:prstGeom>
          <a:noFill/>
          <a:ln w="12700"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Choco Lava Cake, Veg Fried Rice, Paneer Butter Masala, Jeera Rice are highly ordered dishes </a:t>
            </a:r>
            <a:endParaRPr lang="en-US" sz="1800" b="1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1B46F4-5EE2-4EDD-9089-81B80D26B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370" y="1246010"/>
            <a:ext cx="6969259" cy="388130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5947A72-CD6E-4569-A59C-3D8E5E081E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1" y="5818528"/>
            <a:ext cx="981992" cy="98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3575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5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9A15-6FAA-4CE7-B436-D5736BCF5B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F54C2-B827-40E5-94A6-1A4BBB1CDE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3B7CA7F-BD24-41B0-AACD-89E9952B672E}"/>
              </a:ext>
            </a:extLst>
          </p:cNvPr>
          <p:cNvGrpSpPr/>
          <p:nvPr/>
        </p:nvGrpSpPr>
        <p:grpSpPr>
          <a:xfrm>
            <a:off x="178906" y="147362"/>
            <a:ext cx="11834191" cy="6477390"/>
            <a:chOff x="185531" y="-1707075"/>
            <a:chExt cx="11807686" cy="8444412"/>
          </a:xfrm>
          <a:effectLst>
            <a:glow rad="63500">
              <a:schemeClr val="accent2">
                <a:satMod val="175000"/>
                <a:alpha val="40000"/>
              </a:schemeClr>
            </a:glow>
          </a:effectLst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010810-5D5B-4382-B7B1-65065DF836B5}"/>
                </a:ext>
              </a:extLst>
            </p:cNvPr>
            <p:cNvSpPr/>
            <p:nvPr/>
          </p:nvSpPr>
          <p:spPr>
            <a:xfrm>
              <a:off x="185531" y="-1707075"/>
              <a:ext cx="11807686" cy="8444412"/>
            </a:xfrm>
            <a:prstGeom prst="rect">
              <a:avLst/>
            </a:prstGeom>
            <a:ln>
              <a:solidFill>
                <a:schemeClr val="bg1"/>
              </a:solidFill>
            </a:ln>
            <a:effectLst>
              <a:softEdge rad="38100"/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8BC93A0-3F34-44FA-9329-7A7ACE7A0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9753" y="-1525272"/>
              <a:ext cx="498008" cy="853656"/>
            </a:xfrm>
            <a:prstGeom prst="rect">
              <a:avLst/>
            </a:prstGeom>
          </p:spPr>
        </p:pic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8F7C69-0D4F-47A1-B247-B78157811EAA}"/>
              </a:ext>
            </a:extLst>
          </p:cNvPr>
          <p:cNvSpPr/>
          <p:nvPr/>
        </p:nvSpPr>
        <p:spPr>
          <a:xfrm>
            <a:off x="977208" y="363663"/>
            <a:ext cx="10631696" cy="587001"/>
          </a:xfrm>
          <a:prstGeom prst="roundRect">
            <a:avLst/>
          </a:prstGeom>
          <a:solidFill>
            <a:srgbClr val="FB5623"/>
          </a:solidFill>
          <a:effectLst>
            <a:glow rad="12700">
              <a:schemeClr val="accent2">
                <a:satMod val="175000"/>
                <a:alpha val="40000"/>
              </a:schemeClr>
            </a:glow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Customer Spending Insights  </a:t>
            </a:r>
            <a:endParaRPr lang="en-US" sz="2600" b="1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A00299-BB32-4263-9423-3AAA6B67B98F}"/>
              </a:ext>
            </a:extLst>
          </p:cNvPr>
          <p:cNvSpPr txBox="1"/>
          <p:nvPr/>
        </p:nvSpPr>
        <p:spPr>
          <a:xfrm>
            <a:off x="5780026" y="2506553"/>
            <a:ext cx="5418060" cy="1759008"/>
          </a:xfrm>
          <a:prstGeom prst="rect">
            <a:avLst/>
          </a:prstGeom>
          <a:noFill/>
          <a:ln w="12700"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W</a:t>
            </a:r>
            <a:r>
              <a:rPr lang="en-US" sz="18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e can see order are mostly coming from price bucket between 100-400 price bucket.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1800" b="1" dirty="0">
              <a:effectLst/>
              <a:latin typeface="Segoe UI Semibold" panose="020B0702040204020203" pitchFamily="34" charset="0"/>
              <a:ea typeface="Times New Roman" panose="02020603050405020304" pitchFamily="18" charset="0"/>
              <a:cs typeface="Segoe UI Semibold" panose="020B0702040204020203" pitchFamily="34" charset="0"/>
            </a:endParaRP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effectLst/>
                <a:latin typeface="Segoe UI Semibold" panose="020B0702040204020203" pitchFamily="34" charset="0"/>
                <a:ea typeface="Times New Roman" panose="02020603050405020304" pitchFamily="18" charset="0"/>
                <a:cs typeface="Segoe UI Semibold" panose="020B0702040204020203" pitchFamily="34" charset="0"/>
              </a:rPr>
              <a:t>Comparatively few orders are seen in 'under 100’, ’400-500’  and  '500 + category' </a:t>
            </a:r>
            <a:endParaRPr lang="en-US" sz="1800" b="1" dirty="0">
              <a:effectLst/>
              <a:latin typeface="Segoe UI Semibold" panose="020B0702040204020203" pitchFamily="34" charset="0"/>
              <a:ea typeface="Calibri" panose="020F0502020204030204" pitchFamily="34" charset="0"/>
              <a:cs typeface="Segoe UI Semibold" panose="020B07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D1D69A-8FBE-4D23-A05C-3BB8D5B6E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15" y="1686132"/>
            <a:ext cx="4973018" cy="364766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D366462-683E-4161-BE65-A1E0FC6149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4059" y="5649751"/>
            <a:ext cx="909888" cy="90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7393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</TotalTime>
  <Words>1191</Words>
  <Application>Microsoft Office PowerPoint</Application>
  <PresentationFormat>Widescreen</PresentationFormat>
  <Paragraphs>133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Segoe UI Black</vt:lpstr>
      <vt:lpstr>Segoe UI Semibold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</vt:lpstr>
      <vt:lpstr>v</vt:lpstr>
      <vt:lpstr>v</vt:lpstr>
      <vt:lpstr>v</vt:lpstr>
      <vt:lpstr>v</vt:lpstr>
      <vt:lpstr>v</vt:lpstr>
      <vt:lpstr>v</vt:lpstr>
      <vt:lpstr>v</vt:lpstr>
      <vt:lpstr>v</vt:lpstr>
      <vt:lpstr>v</vt:lpstr>
      <vt:lpstr>v</vt:lpstr>
      <vt:lpstr>v</vt:lpstr>
      <vt:lpstr>v</vt:lpstr>
      <vt:lpstr>v</vt:lpstr>
      <vt:lpstr>v</vt:lpstr>
      <vt:lpstr>v</vt:lpstr>
      <vt:lpstr>v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Prathamesh Patil</dc:creator>
  <cp:lastModifiedBy>Prathamesh Patil</cp:lastModifiedBy>
  <cp:revision>39</cp:revision>
  <dcterms:created xsi:type="dcterms:W3CDTF">2026-07-27T16:51:33Z</dcterms:created>
  <dcterms:modified xsi:type="dcterms:W3CDTF">2026-07-29T05:29:40Z</dcterms:modified>
</cp:coreProperties>
</file>